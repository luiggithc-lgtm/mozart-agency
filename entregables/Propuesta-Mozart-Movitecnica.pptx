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5b4abeae-0a33-5cb6-fe50-58e828b67547}">
          <p14:sldIdLst>
            <p14:sldId id="256"/>
          </p14:sldIdLst>
        </p14:section>
        <p14:section name="Contexto" id="{f15de42b-eb2d-13ac-f886-9b1320dc3017}">
          <p14:sldIdLst>
            <p14:sldId id="257"/>
            <p14:sldId id="258"/>
          </p14:sldIdLst>
        </p14:section>
        <p14:section name="Propuesta" id="{677f3801-292c-8b2f-1781-36ea4e2d49e5}">
          <p14:sldIdLst>
            <p14:sldId id="259"/>
            <p14:sldId id="260"/>
            <p14:sldId id="261"/>
          </p14:sldIdLst>
        </p14:section>
        <p14:section name="Concepto" id="{77100591-84f5-f9df-4f91-c1012f4f67a2}">
          <p14:sldIdLst>
            <p14:sldId id="262"/>
          </p14:sldIdLst>
        </p14:section>
        <p14:section name="Frentes" id="{b0ade669-6064-dfa6-15e8-a8299daa1a83}">
          <p14:sldIdLst>
            <p14:sldId id="263"/>
            <p14:sldId id="264"/>
            <p14:sldId id="265"/>
            <p14:sldId id="266"/>
          </p14:sldIdLst>
        </p14:section>
        <p14:section name="Cierre" id="{30bc3821-9415-7a38-2a1b-544a1bece6bb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A8A"/>
                </a:solidFill>
              </a:rPr>
              <a:t>MOZART × MOVITÉCNICA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B6B"/>
                </a:solidFill>
              </a:rPr>
              <a:t>MOZART × MOVITÉCNICA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ozart-agency/src/fotos/faja-min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mozart-agency/src/fotos/grad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B1D"/>
                </a:solidFill>
              </a:rPr>
              <a:t>PROPUESTA DE ALIADO CREATIVO · OCTUBRE 2026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1828800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INGENIERÍA</a:t>
            </a:r>
            <a:endParaRPr lang="en-US" sz="6400" dirty="0"/>
          </a:p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QUE SE VE</a:t>
            </a:r>
            <a:endParaRPr lang="en-US" sz="64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43891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DDDDD"/>
                </a:solidFill>
              </a:rPr>
              <a:t>Web corporativa B2B, video corto para redes y producción audiovisual en campo para Movitécnica.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320040" y="320040"/>
            <a:ext cx="411480" cy="914"/>
          </a:xfrm>
          <a:prstGeom prst="line">
            <a:avLst/>
          </a:prstGeom>
          <a:noFill/>
          <a:ln w="28575">
            <a:solidFill>
              <a:srgbClr val="F26B1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320040" y="320040"/>
            <a:ext cx="914" cy="411480"/>
          </a:xfrm>
          <a:prstGeom prst="line">
            <a:avLst/>
          </a:prstGeom>
          <a:noFill/>
          <a:ln w="28575">
            <a:solidFill>
              <a:srgbClr val="F26B1D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1460175" y="320040"/>
            <a:ext cx="411480" cy="914"/>
          </a:xfrm>
          <a:prstGeom prst="line">
            <a:avLst/>
          </a:prstGeom>
          <a:noFill/>
          <a:ln w="28575">
            <a:solidFill>
              <a:srgbClr val="F26B1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1871655" y="320040"/>
            <a:ext cx="914" cy="411480"/>
          </a:xfrm>
          <a:prstGeom prst="line">
            <a:avLst/>
          </a:prstGeom>
          <a:noFill/>
          <a:ln w="28575">
            <a:solidFill>
              <a:srgbClr val="F26B1D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20040" y="6537960"/>
            <a:ext cx="411480" cy="914"/>
          </a:xfrm>
          <a:prstGeom prst="line">
            <a:avLst/>
          </a:prstGeom>
          <a:noFill/>
          <a:ln w="28575">
            <a:solidFill>
              <a:srgbClr val="F26B1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20040" y="6126480"/>
            <a:ext cx="914" cy="411480"/>
          </a:xfrm>
          <a:prstGeom prst="line">
            <a:avLst/>
          </a:prstGeom>
          <a:noFill/>
          <a:ln w="28575">
            <a:solidFill>
              <a:srgbClr val="F26B1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1460175" y="6537960"/>
            <a:ext cx="411480" cy="914"/>
          </a:xfrm>
          <a:prstGeom prst="line">
            <a:avLst/>
          </a:prstGeom>
          <a:noFill/>
          <a:ln w="28575">
            <a:solidFill>
              <a:srgbClr val="F26B1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1871655" y="6126480"/>
            <a:ext cx="914" cy="411480"/>
          </a:xfrm>
          <a:prstGeom prst="line">
            <a:avLst/>
          </a:prstGeom>
          <a:noFill/>
          <a:ln w="28575">
            <a:solidFill>
              <a:srgbClr val="F26B1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ozart-agency/src/fotos/polipast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0"/>
            <a:ext cx="524225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B1D"/>
                </a:solidFill>
              </a:rPr>
              <a:t>01 · LO QUE ENTENDIMOS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8686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MANTENER EN MOVIMIENTO OPERACIONES QUE NO PUEDEN DETENERSE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251460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2651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6B1D"/>
                </a:solidFill>
              </a:rPr>
              <a:t>46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429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B5B5"/>
                </a:solidFill>
              </a:rPr>
              <a:t>años en el mercado peruano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11880" y="251460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840480" y="2651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6B1D"/>
                </a:solidFill>
              </a:rPr>
              <a:t>3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3840480" y="3429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B5B5"/>
                </a:solidFill>
              </a:rPr>
              <a:t>países: Perú, Chile y Colombia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429768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" y="44348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6B1D"/>
                </a:solidFill>
              </a:rPr>
              <a:t>~70%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5212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B5B5"/>
                </a:solidFill>
              </a:rPr>
              <a:t>de ingresos viene de minería*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11880" y="429768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840480" y="44348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6B1D"/>
                </a:solidFill>
              </a:rPr>
              <a:t>5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3840480" y="5212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B5B5"/>
                </a:solidFill>
              </a:rPr>
              <a:t>líneas de equipos de izaje y transporte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6035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* Según declaraciones públicas de la empresa.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ozart-agency/src/fotos/tecnico-pole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3093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B1D"/>
                </a:solidFill>
              </a:rPr>
              <a:t>02 · EL RETO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309360" y="86868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COMPRA UN PUENTE GRÚA POR IMPULSO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09360" y="2514600"/>
            <a:ext cx="457200" cy="45720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3093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99516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OPERACIONES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995160" y="28072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5B5B5"/>
                </a:solidFill>
              </a:rPr>
              <a:t>Quiere ver capacidad técnica y soporte en faena.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3657600"/>
            <a:ext cx="457200" cy="45720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0936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99516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COMPRAS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995160" y="39502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5B5B5"/>
                </a:solidFill>
              </a:rPr>
              <a:t>Necesita fichas técnicas y un canal directo para cotizar.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09360" y="4800600"/>
            <a:ext cx="457200" cy="45720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0936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99516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SEGURIDAD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995160" y="50932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5B5B5"/>
                </a:solidFill>
              </a:rPr>
              <a:t>Exige evidencia de protocolos y trayectoria.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B1D"/>
                </a:solidFill>
              </a:rPr>
              <a:t>03 · NUESTRA PROPUESTA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FRENTES, UNA SOLA LÍNEA DE MARCA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9000" cy="3886200"/>
          </a:xfrm>
          <a:prstGeom prst="roundRect">
            <a:avLst>
              <a:gd name="adj" fmla="val 2667"/>
            </a:avLst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</p:spPr>
      </p:sp>
      <p:pic>
        <p:nvPicPr>
          <p:cNvPr id="5" name="Image 0" descr="/home/user/mozart-agency/entregables/muestra-home-movitecnic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2240280"/>
            <a:ext cx="3154680" cy="2011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4434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6B1D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47548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WEB CORPORATIVA B2B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51663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B5B5"/>
                </a:solidFill>
              </a:rPr>
              <a:t>Catálogo con botón Cotizar en cada equipo.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2103120"/>
            <a:ext cx="3429000" cy="3886200"/>
          </a:xfrm>
          <a:prstGeom prst="roundRect">
            <a:avLst>
              <a:gd name="adj" fmla="val 2667"/>
            </a:avLst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</p:spPr>
      </p:sp>
      <p:pic>
        <p:nvPicPr>
          <p:cNvPr id="10" name="Image 1" descr="/home/user/mozart-agency/entregables/muestra-storyboard-ree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26280" y="2240280"/>
            <a:ext cx="3154680" cy="20116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63440" y="4434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6B1D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47548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VIDEO CORTO PARA REDES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51663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B5B5"/>
                </a:solidFill>
              </a:rPr>
              <a:t>Reels verticales con material real de faena.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2103120"/>
            <a:ext cx="3429000" cy="3886200"/>
          </a:xfrm>
          <a:prstGeom prst="roundRect">
            <a:avLst>
              <a:gd name="adj" fmla="val 2667"/>
            </a:avLst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</p:spPr>
      </p:sp>
      <p:pic>
        <p:nvPicPr>
          <p:cNvPr id="15" name="Image 2" descr="/home/user/mozart-agency/src/fotos/camarografo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75320" y="2240280"/>
            <a:ext cx="3154680" cy="20116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12480" y="4434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6B1D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8412480" y="47548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AUDIOVISUAL EN CAMPO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51663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B5B5"/>
                </a:solidFill>
              </a:rPr>
              <a:t>Video institucional, casos y fotografía técnica.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ozart-agency/src/fotos/cable-ac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0" y="0"/>
            <a:ext cx="460217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B1D"/>
                </a:solidFill>
              </a:rPr>
              <a:t>04 · QUIÉNES SOMOS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8686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OFICIO DE RED INTERNACIONAL, ESTRUCTURA ÁGIL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2468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EXPERIENCIA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80720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Equipo formado en TBWA y Publicis.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RECONOCIMIENTOS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385876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Trabajos premiados en Cannes Lions y New York Festivals.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TRATO DIRECTO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491032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</a:rPr>
              <a:t>Quien presenta la propuesta, la ejecuta.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5715000"/>
            <a:ext cx="6400800" cy="457200"/>
          </a:xfrm>
          <a:prstGeom prst="roundRect">
            <a:avLst>
              <a:gd name="adj" fmla="val 16000"/>
            </a:avLst>
          </a:prstGeom>
          <a:solidFill>
            <a:srgbClr val="FFF1E8"/>
          </a:solidFill>
          <a:ln w="15875">
            <a:solidFill>
              <a:srgbClr val="F26B1D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822960" y="57150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4A0C"/>
                </a:solidFill>
              </a:rPr>
              <a:t>LUIGGI · </a:t>
            </a:r>
            <a:pPr indent="0" marL="0">
              <a:buNone/>
            </a:pPr>
            <a:r>
              <a:rPr lang="en-US" sz="1100" dirty="0">
                <a:solidFill>
                  <a:srgbClr val="B04A0C"/>
                </a:solidFill>
              </a:rPr>
              <a:t>Confirmar premio, año y pieza exactos según las Credenciales 2026.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B1D"/>
                </a:solidFill>
              </a:rPr>
              <a:t>05 · EXPERIENCIA RELEVANTE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MARCAS QUE CONFIARON EN NOSOTROS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303520" cy="2651760"/>
          </a:xfrm>
          <a:prstGeom prst="rect">
            <a:avLst/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240280"/>
            <a:ext cx="274320" cy="914"/>
          </a:xfrm>
          <a:prstGeom prst="line">
            <a:avLst/>
          </a:prstGeom>
          <a:noFill/>
          <a:ln w="28575">
            <a:solidFill>
              <a:srgbClr val="F26B1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40280"/>
            <a:ext cx="914" cy="274320"/>
          </a:xfrm>
          <a:prstGeom prst="line">
            <a:avLst/>
          </a:prstGeom>
          <a:noFill/>
          <a:ln w="28575">
            <a:solidFill>
              <a:srgbClr val="F26B1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32120" y="2240280"/>
            <a:ext cx="274320" cy="914"/>
          </a:xfrm>
          <a:prstGeom prst="line">
            <a:avLst/>
          </a:prstGeom>
          <a:noFill/>
          <a:ln w="28575">
            <a:solidFill>
              <a:srgbClr val="F26B1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06440" y="2240280"/>
            <a:ext cx="914" cy="274320"/>
          </a:xfrm>
          <a:prstGeom prst="line">
            <a:avLst/>
          </a:prstGeom>
          <a:noFill/>
          <a:ln w="28575">
            <a:solidFill>
              <a:srgbClr val="F26B1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617720"/>
            <a:ext cx="274320" cy="914"/>
          </a:xfrm>
          <a:prstGeom prst="line">
            <a:avLst/>
          </a:prstGeom>
          <a:noFill/>
          <a:ln w="28575">
            <a:solidFill>
              <a:srgbClr val="F26B1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4343400"/>
            <a:ext cx="914" cy="274320"/>
          </a:xfrm>
          <a:prstGeom prst="line">
            <a:avLst/>
          </a:prstGeom>
          <a:noFill/>
          <a:ln w="28575">
            <a:solidFill>
              <a:srgbClr val="F26B1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32120" y="4617720"/>
            <a:ext cx="274320" cy="914"/>
          </a:xfrm>
          <a:prstGeom prst="line">
            <a:avLst/>
          </a:prstGeom>
          <a:noFill/>
          <a:ln w="28575">
            <a:solidFill>
              <a:srgbClr val="F26B1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06440" y="4343400"/>
            <a:ext cx="914" cy="274320"/>
          </a:xfrm>
          <a:prstGeom prst="line">
            <a:avLst/>
          </a:prstGeom>
          <a:noFill/>
          <a:ln w="28575">
            <a:solidFill>
              <a:srgbClr val="F26B1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2004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Imagen del caso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937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CLBS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303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B5B5"/>
                </a:solidFill>
              </a:rPr>
              <a:t>Web corporativa y rebranding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2103120"/>
            <a:ext cx="5303520" cy="2651760"/>
          </a:xfrm>
          <a:prstGeom prst="rect">
            <a:avLst/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2240280"/>
            <a:ext cx="274320" cy="914"/>
          </a:xfrm>
          <a:prstGeom prst="line">
            <a:avLst/>
          </a:prstGeom>
          <a:noFill/>
          <a:ln w="28575">
            <a:solidFill>
              <a:srgbClr val="F26B1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2240280"/>
            <a:ext cx="914" cy="274320"/>
          </a:xfrm>
          <a:prstGeom prst="line">
            <a:avLst/>
          </a:prstGeom>
          <a:noFill/>
          <a:ln w="28575">
            <a:solidFill>
              <a:srgbClr val="F26B1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09960" y="2240280"/>
            <a:ext cx="274320" cy="914"/>
          </a:xfrm>
          <a:prstGeom prst="line">
            <a:avLst/>
          </a:prstGeom>
          <a:noFill/>
          <a:ln w="28575">
            <a:solidFill>
              <a:srgbClr val="F26B1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84280" y="2240280"/>
            <a:ext cx="914" cy="274320"/>
          </a:xfrm>
          <a:prstGeom prst="line">
            <a:avLst/>
          </a:prstGeom>
          <a:noFill/>
          <a:ln w="28575">
            <a:solidFill>
              <a:srgbClr val="F26B1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4617720"/>
            <a:ext cx="274320" cy="914"/>
          </a:xfrm>
          <a:prstGeom prst="line">
            <a:avLst/>
          </a:prstGeom>
          <a:noFill/>
          <a:ln w="28575">
            <a:solidFill>
              <a:srgbClr val="F26B1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4343400"/>
            <a:ext cx="914" cy="274320"/>
          </a:xfrm>
          <a:prstGeom prst="line">
            <a:avLst/>
          </a:prstGeom>
          <a:noFill/>
          <a:ln w="28575">
            <a:solidFill>
              <a:srgbClr val="F26B1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09960" y="4617720"/>
            <a:ext cx="274320" cy="914"/>
          </a:xfrm>
          <a:prstGeom prst="line">
            <a:avLst/>
          </a:prstGeom>
          <a:noFill/>
          <a:ln w="28575">
            <a:solidFill>
              <a:srgbClr val="F26B1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384280" y="4343400"/>
            <a:ext cx="914" cy="274320"/>
          </a:xfrm>
          <a:prstGeom prst="line">
            <a:avLst/>
          </a:prstGeom>
          <a:noFill/>
          <a:ln w="28575">
            <a:solidFill>
              <a:srgbClr val="F26B1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32004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Imagen del caso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4937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ELECTRODATA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5303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B5B5"/>
                </a:solidFill>
              </a:rPr>
              <a:t>Rebranding: experto, profesional, cercano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806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5B5"/>
                </a:solidFill>
              </a:rPr>
              <a:t>También: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BTG PACTUAL · SERRA · LYNCH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49440" y="5760720"/>
            <a:ext cx="4572000" cy="411480"/>
          </a:xfrm>
          <a:prstGeom prst="roundRect">
            <a:avLst>
              <a:gd name="adj" fmla="val 17778"/>
            </a:avLst>
          </a:prstGeom>
          <a:solidFill>
            <a:srgbClr val="2A1A10"/>
          </a:solidFill>
          <a:ln w="15875">
            <a:solidFill>
              <a:srgbClr val="F26B1D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7132320" y="57607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27A"/>
                </a:solidFill>
              </a:rPr>
              <a:t>LUIGGI · </a:t>
            </a:r>
            <a:pPr indent="0" marL="0">
              <a:buNone/>
            </a:pPr>
            <a:r>
              <a:rPr lang="en-US" sz="1100" dirty="0">
                <a:solidFill>
                  <a:srgbClr val="FFB27A"/>
                </a:solidFill>
              </a:rPr>
              <a:t>Insertar imágenes de CLBS y Electrodata.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ozart-agency/src/fotos/puente-gru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mozart-agency/src/fotos/grad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B1D"/>
                </a:solidFill>
              </a:rPr>
              <a:t>06 · CONCEPTO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164592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INGENIERÍA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QUE SE VE</a:t>
            </a:r>
            <a:endParaRPr lang="en-US" sz="6000" dirty="0"/>
          </a:p>
        </p:txBody>
      </p:sp>
      <p:sp>
        <p:nvSpPr>
          <p:cNvPr id="6" name="Shape 2"/>
          <p:cNvSpPr/>
          <p:nvPr/>
        </p:nvSpPr>
        <p:spPr>
          <a:xfrm>
            <a:off x="640080" y="406908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68680" y="40690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Su trabajo ocurre en faena, de noche y en paradas de planta. Proponemos mostrarlo.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40080" y="521208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000000">
              <a:alpha val="65000"/>
            </a:srgbClr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" y="5212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Mostrar el proceso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514600" y="521208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000000">
              <a:alpha val="65000"/>
            </a:srgbClr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514600" y="5212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Hablar en datos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389120" y="521208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000000">
              <a:alpha val="65000"/>
            </a:srgbClr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389120" y="5212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 seguridad como valor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B1D"/>
                </a:solidFill>
              </a:rPr>
              <a:t>FRENTE 01 · WEB CORPORATIVA B2B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WEB QUE GENERA COTIZACIONES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423160"/>
            <a:ext cx="411480" cy="41148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423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Cotizar en cada equipo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411480" cy="41148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200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Ficha técnica descargable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977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Versión PE · CL · CO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754880"/>
            <a:ext cx="411480" cy="41148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754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754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Posventa en primer nivel</a:t>
            </a:r>
            <a:endParaRPr lang="en-US" sz="1500" dirty="0"/>
          </a:p>
        </p:txBody>
      </p:sp>
      <p:pic>
        <p:nvPicPr>
          <p:cNvPr id="16" name="Image 0" descr="/home/user/mozart-agency/entregables/muestra-home-movitecn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914400"/>
            <a:ext cx="6675120" cy="4169664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937760" y="777240"/>
            <a:ext cx="320040" cy="914"/>
          </a:xfrm>
          <a:prstGeom prst="line">
            <a:avLst/>
          </a:prstGeom>
          <a:noFill/>
          <a:ln w="28575">
            <a:solidFill>
              <a:srgbClr val="F26B1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937760" y="777240"/>
            <a:ext cx="914" cy="320040"/>
          </a:xfrm>
          <a:prstGeom prst="line">
            <a:avLst/>
          </a:prstGeom>
          <a:noFill/>
          <a:ln w="28575">
            <a:solidFill>
              <a:srgbClr val="F26B1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567160" y="777240"/>
            <a:ext cx="320040" cy="914"/>
          </a:xfrm>
          <a:prstGeom prst="line">
            <a:avLst/>
          </a:prstGeom>
          <a:noFill/>
          <a:ln w="28575">
            <a:solidFill>
              <a:srgbClr val="F26B1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887200" y="777240"/>
            <a:ext cx="914" cy="320040"/>
          </a:xfrm>
          <a:prstGeom prst="line">
            <a:avLst/>
          </a:prstGeom>
          <a:noFill/>
          <a:ln w="28575">
            <a:solidFill>
              <a:srgbClr val="F26B1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937760" y="5221224"/>
            <a:ext cx="320040" cy="914"/>
          </a:xfrm>
          <a:prstGeom prst="line">
            <a:avLst/>
          </a:prstGeom>
          <a:noFill/>
          <a:ln w="28575">
            <a:solidFill>
              <a:srgbClr val="F26B1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937760" y="4901184"/>
            <a:ext cx="914" cy="320040"/>
          </a:xfrm>
          <a:prstGeom prst="line">
            <a:avLst/>
          </a:prstGeom>
          <a:noFill/>
          <a:ln w="28575">
            <a:solidFill>
              <a:srgbClr val="F26B1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1567160" y="5221224"/>
            <a:ext cx="320040" cy="914"/>
          </a:xfrm>
          <a:prstGeom prst="line">
            <a:avLst/>
          </a:prstGeom>
          <a:noFill/>
          <a:ln w="28575">
            <a:solidFill>
              <a:srgbClr val="F26B1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1887200" y="4901184"/>
            <a:ext cx="914" cy="320040"/>
          </a:xfrm>
          <a:prstGeom prst="line">
            <a:avLst/>
          </a:prstGeom>
          <a:noFill/>
          <a:ln w="28575">
            <a:solidFill>
              <a:srgbClr val="F26B1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74920" y="53492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</a:rPr>
              <a:t>Mockup referencial de la home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B1D"/>
                </a:solidFill>
              </a:rPr>
              <a:t>FRENTE 02 · VIDEO CORTO PARA REDES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REELS QUE MUESTRAN EL TRABAJO REAL</a:t>
            </a:r>
            <a:endParaRPr lang="en-US" sz="3000" dirty="0"/>
          </a:p>
        </p:txBody>
      </p:sp>
      <p:pic>
        <p:nvPicPr>
          <p:cNvPr id="4" name="Image 0" descr="/home/user/mozart-agency/entregables/muestra-storyboard-re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7772400" cy="43708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32520" y="1645920"/>
            <a:ext cx="2834640" cy="1005840"/>
          </a:xfrm>
          <a:prstGeom prst="roundRect">
            <a:avLst>
              <a:gd name="adj" fmla="val 10909"/>
            </a:avLst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61120" y="16459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30 s · 9:16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Subtítulos siempre activos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732520" y="2880360"/>
            <a:ext cx="2834640" cy="594360"/>
          </a:xfrm>
          <a:prstGeom prst="roundRect">
            <a:avLst>
              <a:gd name="adj" fmla="val 15385"/>
            </a:avLst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61120" y="28803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 faena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732520" y="3657600"/>
            <a:ext cx="2834640" cy="594360"/>
          </a:xfrm>
          <a:prstGeom prst="roundRect">
            <a:avLst>
              <a:gd name="adj" fmla="val 15385"/>
            </a:avLst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961120" y="36576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Explicado por un técnico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732520" y="4434840"/>
            <a:ext cx="2834640" cy="594360"/>
          </a:xfrm>
          <a:prstGeom prst="roundRect">
            <a:avLst>
              <a:gd name="adj" fmla="val 15385"/>
            </a:avLst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961120" y="44348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Seguridad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732520" y="5212080"/>
            <a:ext cx="2834640" cy="594360"/>
          </a:xfrm>
          <a:prstGeom prst="roundRect">
            <a:avLst>
              <a:gd name="adj" fmla="val 15385"/>
            </a:avLst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61120" y="5212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Las personas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ozart-agency/src/fotos/camarograf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mozart-agency/src/fotos/grad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B1D"/>
                </a:solidFill>
              </a:rPr>
              <a:t>FRENTE 03 · AUDIOVISUAL EN CAMPO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128016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GRABAMOS DONDE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OCURRE EL TRABAJO</a:t>
            </a:r>
            <a:endParaRPr lang="en-US" sz="4000" dirty="0"/>
          </a:p>
        </p:txBody>
      </p:sp>
      <p:sp>
        <p:nvSpPr>
          <p:cNvPr id="6" name="Shape 2"/>
          <p:cNvSpPr/>
          <p:nvPr/>
        </p:nvSpPr>
        <p:spPr>
          <a:xfrm>
            <a:off x="640080" y="324612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000000">
              <a:alpha val="70000"/>
            </a:srgbClr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6B1D"/>
                </a:solidFill>
              </a:rPr>
              <a:t>VIDEO INSTITUCIONAL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</a:rPr>
              <a:t>2 a 3 minutos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474720" y="324612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000000">
              <a:alpha val="70000"/>
            </a:srgbClr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657600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6B1D"/>
                </a:solidFill>
              </a:rPr>
              <a:t>CASOS DE CLIENTE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3657600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</a:rPr>
              <a:t>con aprobación del cliente final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443484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000000">
              <a:alpha val="70000"/>
            </a:srgbClr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22960" y="4572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6B1D"/>
                </a:solidFill>
              </a:rPr>
              <a:t>FOTOGRAFÍA TÉCNICA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4937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</a:rPr>
              <a:t>equipos, procesos y personas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474720" y="443484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000000">
              <a:alpha val="70000"/>
            </a:srgbClr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657600" y="4572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6B1D"/>
                </a:solidFill>
              </a:rPr>
              <a:t>TOMAS CON DRON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3657600" y="4937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</a:rPr>
              <a:t>con permiso de la unidad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ozart-agency/src/fotos/charla-segurida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0"/>
            <a:ext cx="551657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B1D"/>
                </a:solidFill>
              </a:rPr>
              <a:t>PROTOCOLO DE SEGURIDAD EN CAMPO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8686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 LA SEGURIDAD, DESPUÉS LA CÁMARA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2423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ANTES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76148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5B5B5"/>
                </a:solidFill>
              </a:rPr>
              <a:t>Inducción y plan de rodaje aprobado por la unidad.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3383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DURANTE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372160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5B5B5"/>
                </a:solidFill>
              </a:rPr>
              <a:t>EPP completo y acompañamiento de Movitécnica.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4389120"/>
            <a:ext cx="457200" cy="45720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4343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DESPUÉS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468172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5B5B5"/>
                </a:solidFill>
              </a:rPr>
              <a:t>Revisión del material antes de publicar.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5349240"/>
            <a:ext cx="5577840" cy="384048"/>
          </a:xfrm>
          <a:prstGeom prst="roundRect">
            <a:avLst>
              <a:gd name="adj" fmla="val 19048"/>
            </a:avLst>
          </a:prstGeom>
          <a:solidFill>
            <a:srgbClr val="2A1A10"/>
          </a:solidFill>
          <a:ln w="15875">
            <a:solidFill>
              <a:srgbClr val="F26B1D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822960" y="534924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27A"/>
                </a:solidFill>
              </a:rPr>
              <a:t>LUIGGI · </a:t>
            </a:r>
            <a:pPr indent="0" marL="0">
              <a:buNone/>
            </a:pPr>
            <a:r>
              <a:rPr lang="en-US" sz="1100" dirty="0">
                <a:solidFill>
                  <a:srgbClr val="FFB27A"/>
                </a:solidFill>
              </a:rPr>
              <a:t>Contratar SCTR para cada persona del equipo antes de entrar a faena.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0080" y="5824728"/>
            <a:ext cx="5577840" cy="384048"/>
          </a:xfrm>
          <a:prstGeom prst="roundRect">
            <a:avLst>
              <a:gd name="adj" fmla="val 19048"/>
            </a:avLst>
          </a:prstGeom>
          <a:solidFill>
            <a:srgbClr val="2A1A10"/>
          </a:solidFill>
          <a:ln w="15875">
            <a:solidFill>
              <a:srgbClr val="F26B1D"/>
            </a:solidFill>
            <a:prstDash val="dash"/>
          </a:ln>
        </p:spPr>
      </p:sp>
      <p:sp>
        <p:nvSpPr>
          <p:cNvPr id="20" name="Text 17"/>
          <p:cNvSpPr txBox="1"/>
          <p:nvPr/>
        </p:nvSpPr>
        <p:spPr>
          <a:xfrm>
            <a:off x="822960" y="582472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27A"/>
                </a:solidFill>
              </a:rPr>
              <a:t>LUIGGI · </a:t>
            </a:r>
            <a:pPr indent="0" marL="0">
              <a:buNone/>
            </a:pPr>
            <a:r>
              <a:rPr lang="en-US" sz="1100" dirty="0">
                <a:solidFill>
                  <a:srgbClr val="FFB27A"/>
                </a:solidFill>
              </a:rPr>
              <a:t>Conseguir piloto de dron con registro vigente y seguro.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B1D"/>
                </a:solidFill>
              </a:rPr>
              <a:t>CÓMO TRABAJAMOS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PROCESO CLARO EN CUATRO FASES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2880360"/>
            <a:ext cx="10332720" cy="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651760"/>
            <a:ext cx="457200" cy="45720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INMERSIÓN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94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5B5B5"/>
                </a:solidFill>
              </a:rPr>
              <a:t>Marca, catálogo y prioridades por país.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2651760"/>
            <a:ext cx="457200" cy="45720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ESTRATEGIA Y DISEÑO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3794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5B5B5"/>
                </a:solidFill>
              </a:rPr>
              <a:t>Arquitectura web, línea visual y plan de contenidos.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2651760"/>
            <a:ext cx="457200" cy="45720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PRODUCCIÓN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3794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5B5B5"/>
                </a:solidFill>
              </a:rPr>
              <a:t>Desarrollo web y jornadas de rodaje.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15400" y="2651760"/>
            <a:ext cx="457200" cy="45720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154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86968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LANZAMIENTO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0" y="3794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5B5B5"/>
                </a:solidFill>
              </a:rPr>
              <a:t>Publicación, medición y ajustes mensuales.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303520"/>
            <a:ext cx="4572000" cy="411480"/>
          </a:xfrm>
          <a:prstGeom prst="roundRect">
            <a:avLst>
              <a:gd name="adj" fmla="val 17778"/>
            </a:avLst>
          </a:prstGeom>
          <a:solidFill>
            <a:srgbClr val="2A1A10"/>
          </a:solidFill>
          <a:ln w="15875">
            <a:solidFill>
              <a:srgbClr val="F26B1D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22960" y="5303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27A"/>
                </a:solidFill>
              </a:rPr>
              <a:t>LUIGGI · </a:t>
            </a:r>
            <a:pPr indent="0" marL="0">
              <a:buNone/>
            </a:pPr>
            <a:r>
              <a:rPr lang="en-US" sz="1100" dirty="0">
                <a:solidFill>
                  <a:srgbClr val="FFB27A"/>
                </a:solidFill>
              </a:rPr>
              <a:t>Definir plazos por fase (en semanas).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B1D"/>
                </a:solidFill>
              </a:rPr>
              <a:t>INVERSIÓN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PAQUETES POR FRENTE, POR SEPARADO O EN CONJUNTO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3774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6B1D"/>
                </a:solidFill>
              </a:rPr>
              <a:t>FRENTE 01 · PROYECTO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WEB CORPORATIVA B2B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004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S/ ____________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97764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B5B5B5"/>
                </a:solidFill>
              </a:rPr>
              <a:t>Diseño UX/UI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B5B5B5"/>
                </a:solidFill>
              </a:rPr>
              <a:t>Cotizar por equipo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B5B5B5"/>
                </a:solidFill>
              </a:rPr>
              <a:t>PE · CL · CO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B5B5B5"/>
                </a:solidFill>
              </a:rPr>
              <a:t>SEO técnico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210312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23774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6B1D"/>
                </a:solidFill>
              </a:rPr>
              <a:t>FRENTE 02 · MENSUAL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VIDEO CORTO PARA REDES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2004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S/ ________ /mes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97764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B5B5B5"/>
                </a:solidFill>
              </a:rPr>
              <a:t>Plan mensual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B5B5B5"/>
                </a:solidFill>
              </a:rPr>
              <a:t>Reels con subtítulos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B5B5B5"/>
                </a:solidFill>
              </a:rPr>
              <a:t>Carruseles técnicos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B5B5B5"/>
                </a:solidFill>
              </a:rPr>
              <a:t>Reporte mensual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10312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0" y="23774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6B1D"/>
                </a:solidFill>
              </a:rPr>
              <a:t>FRENTE 03 · POR JORNADA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AUDIOVISUAL EN CAMPO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2004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S/ ______ /jornada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97764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B5B5B5"/>
                </a:solidFill>
              </a:rPr>
              <a:t>Rodaje con protocolo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B5B5B5"/>
                </a:solidFill>
              </a:rPr>
              <a:t>Fotografía técnica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B5B5B5"/>
                </a:solidFill>
              </a:rPr>
              <a:t>Cortes para redes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B5B5B5"/>
                </a:solidFill>
              </a:rPr>
              <a:t>Dron opcional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</a:rPr>
              <a:t>Montos en soles. IGV y viáticos a faena: ____________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ozart-agency/src/fotos/tecnico-pole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mozart-agency/src/fotos/grad-fu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6B1D"/>
                </a:solidFill>
              </a:rPr>
              <a:t>PRÓXIMOS PASOS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15087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CONVERSEMOS</a:t>
            </a:r>
            <a:endParaRPr lang="en-US" sz="6000" dirty="0"/>
          </a:p>
        </p:txBody>
      </p:sp>
      <p:sp>
        <p:nvSpPr>
          <p:cNvPr id="6" name="Shape 2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32588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REUNIÓN DE 30 MINUTOS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32588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</a:rPr>
              <a:t>Prioridades y alcance por país.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325880" y="3840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PROPUESTA AJUSTADA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32588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</a:rPr>
              <a:t>Alcance y montos finales.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754880"/>
            <a:ext cx="457200" cy="45720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4008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32588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ARRANQUE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325880" y="5029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</a:rPr>
              <a:t>Inmersión y primera jornada en campo.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40080" y="5715000"/>
            <a:ext cx="5486400" cy="411480"/>
          </a:xfrm>
          <a:prstGeom prst="roundRect">
            <a:avLst>
              <a:gd name="adj" fmla="val 17778"/>
            </a:avLst>
          </a:prstGeom>
          <a:solidFill>
            <a:srgbClr val="2A1A10"/>
          </a:solidFill>
          <a:ln w="15875">
            <a:solidFill>
              <a:srgbClr val="F26B1D"/>
            </a:solidFill>
            <a:prstDash val="dash"/>
          </a:ln>
        </p:spPr>
      </p:sp>
      <p:sp>
        <p:nvSpPr>
          <p:cNvPr id="19" name="Text 15"/>
          <p:cNvSpPr txBox="1"/>
          <p:nvPr/>
        </p:nvSpPr>
        <p:spPr>
          <a:xfrm>
            <a:off x="822960" y="57150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27A"/>
                </a:solidFill>
              </a:rPr>
              <a:t>LUIGGI · </a:t>
            </a:r>
            <a:pPr indent="0" marL="0">
              <a:buNone/>
            </a:pPr>
            <a:r>
              <a:rPr lang="en-US" sz="1100" dirty="0">
                <a:solidFill>
                  <a:srgbClr val="FFB27A"/>
                </a:solidFill>
              </a:rPr>
              <a:t>Agregar nombre, cargo, correo, teléfono y web de Mozart.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zart Industrial">
  <a:themeElements>
    <a:clrScheme name="Mozart Industrial">
      <a:dk1>
        <a:srgbClr val="141414"/>
      </a:dk1>
      <a:lt1>
        <a:srgbClr val="FFFFFF"/>
      </a:lt1>
      <a:dk2>
        <a:srgbClr val="1F1F1F"/>
      </a:dk2>
      <a:lt2>
        <a:srgbClr val="F2F2F2"/>
      </a:lt2>
      <a:accent1>
        <a:srgbClr val="F26B1D"/>
      </a:accent1>
      <a:accent2>
        <a:srgbClr val="B5B5B5"/>
      </a:accent2>
      <a:accent3>
        <a:srgbClr val="3A3A3A"/>
      </a:accent3>
      <a:accent4>
        <a:srgbClr val="FFB27A"/>
      </a:accent4>
      <a:accent5>
        <a:srgbClr val="8A8A8A"/>
      </a:accent5>
      <a:accent6>
        <a:srgbClr val="5C5C5C"/>
      </a:accent6>
      <a:hlink>
        <a:srgbClr val="F26B1D"/>
      </a:hlink>
      <a:folHlink>
        <a:srgbClr val="B5B5B5"/>
      </a:folHlink>
    </a:clrScheme>
    <a:fontScheme name="Mozart Industri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Mozart para Movitécnica</dc:title>
  <dc:subject>PptxGenJS Presentation</dc:subject>
  <dc:creator>Mozart</dc:creator>
  <cp:lastModifiedBy>Mozart</cp:lastModifiedBy>
  <cp:revision>1</cp:revision>
  <dcterms:created xsi:type="dcterms:W3CDTF">2026-10-28T04:27:18Z</dcterms:created>
  <dcterms:modified xsi:type="dcterms:W3CDTF">2026-10-28T04:27:18Z</dcterms:modified>
</cp:coreProperties>
</file>