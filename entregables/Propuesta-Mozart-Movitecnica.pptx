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d3d3757-a577-f9c1-4d87-3ed96cc6470d}">
          <p14:sldIdLst>
            <p14:sldId id="256"/>
          </p14:sldIdLst>
        </p14:section>
        <p14:section name="Contexto" id="{5e2b091b-6a1e-d980-874f-05cbf205d086}">
          <p14:sldIdLst>
            <p14:sldId id="257"/>
            <p14:sldId id="258"/>
          </p14:sldIdLst>
        </p14:section>
        <p14:section name="Propuesta" id="{2766fd13-2e64-9f82-755b-b673eb731ec4}">
          <p14:sldIdLst>
            <p14:sldId id="259"/>
            <p14:sldId id="260"/>
            <p14:sldId id="261"/>
          </p14:sldIdLst>
        </p14:section>
        <p14:section name="Concepto" id="{00cdb5fc-cda0-e367-03e6-2e1390a0a698}">
          <p14:sldIdLst>
            <p14:sldId id="262"/>
          </p14:sldIdLst>
        </p14:section>
        <p14:section name="Web corporativa" id="{427ec238-d1c6-15bf-e505-94db82ac94d0}">
          <p14:sldIdLst>
            <p14:sldId id="263"/>
            <p14:sldId id="264"/>
            <p14:sldId id="265"/>
            <p14:sldId id="266"/>
          </p14:sldIdLst>
        </p14:section>
        <p14:section name="Contenido mensual" id="{e9f68ce0-0f2a-16f5-4b3a-b4770469b690}">
          <p14:sldIdLst>
            <p14:sldId id="267"/>
            <p14:sldId id="268"/>
          </p14:sldIdLst>
        </p14:section>
        <p14:section name="Audiovisual en campo" id="{55aed643-de38-efcd-5dcc-479b3f4d3c33}">
          <p14:sldIdLst>
            <p14:sldId id="269"/>
            <p14:sldId id="270"/>
          </p14:sldIdLst>
        </p14:section>
        <p14:section name="Cierre" id="{2d73a5fb-423a-e805-7136-41011d720ffb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A9A9A"/>
                </a:solidFill>
              </a:rPr>
              <a:t>MOZART × MOVITÉCNICA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zart-agency/src/fotos/faja-min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ozart-agency/src/fotos/grad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26B1D"/>
                </a:solidFill>
              </a:rPr>
              <a:t>PROPUESTA DE ALIADO CREATIVO · OCTUBRE 2026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182880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INGENIERÍA</a:t>
            </a:r>
            <a:endParaRPr lang="en-US" sz="6400" dirty="0"/>
          </a:p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QUE SE VE</a:t>
            </a:r>
            <a:endParaRPr lang="en-US" sz="6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438912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DDDDD"/>
                </a:solidFill>
              </a:rPr>
              <a:t>Web corporativa, contenido mensual para redes y producción audiovisual en campo para Movitécnica.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320040" y="320040"/>
            <a:ext cx="411480" cy="914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320040" y="320040"/>
            <a:ext cx="914" cy="411480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1460175" y="320040"/>
            <a:ext cx="411480" cy="914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1871655" y="320040"/>
            <a:ext cx="914" cy="411480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20040" y="6537960"/>
            <a:ext cx="411480" cy="914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20040" y="6126480"/>
            <a:ext cx="914" cy="411480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460175" y="6537960"/>
            <a:ext cx="411480" cy="914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871655" y="6126480"/>
            <a:ext cx="914" cy="411480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zart-agency/src/fotos/polipas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ozart-agency/src/fotos/grad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26B1D"/>
                </a:solidFill>
              </a:rPr>
              <a:t>01 · LO QUE ENTENDIMOS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86868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MANTENER EN MOVIMIENTO OPERACIONES QUE NO PUEDEN DETENERSE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640080" y="251460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68680" y="26517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26B1D"/>
                </a:solidFill>
              </a:rPr>
              <a:t>46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3429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DDDD"/>
                </a:solidFill>
              </a:rPr>
              <a:t>años en el mercado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611880" y="251460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3840480" y="26517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26B1D"/>
                </a:solidFill>
              </a:rPr>
              <a:t>3</a:t>
            </a:r>
            <a:endParaRPr lang="en-US" sz="4000" dirty="0"/>
          </a:p>
        </p:txBody>
      </p:sp>
      <p:sp>
        <p:nvSpPr>
          <p:cNvPr id="11" name="Text 7"/>
          <p:cNvSpPr txBox="1"/>
          <p:nvPr/>
        </p:nvSpPr>
        <p:spPr>
          <a:xfrm>
            <a:off x="3840480" y="34290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DDDD"/>
                </a:solidFill>
              </a:rPr>
              <a:t>países: Perú, Chile y Colombia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" y="429768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44348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26B1D"/>
                </a:solidFill>
              </a:rPr>
              <a:t>~70%</a:t>
            </a:r>
            <a:endParaRPr lang="en-US" sz="4000" dirty="0"/>
          </a:p>
        </p:txBody>
      </p:sp>
      <p:sp>
        <p:nvSpPr>
          <p:cNvPr id="14" name="Text 10"/>
          <p:cNvSpPr txBox="1"/>
          <p:nvPr/>
        </p:nvSpPr>
        <p:spPr>
          <a:xfrm>
            <a:off x="868680" y="5212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DDDD"/>
                </a:solidFill>
              </a:rPr>
              <a:t>de sus ingresos viene de minería*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3611880" y="4297680"/>
            <a:ext cx="2743200" cy="1554480"/>
          </a:xfrm>
          <a:prstGeom prst="roundRect">
            <a:avLst>
              <a:gd name="adj" fmla="val 5882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840480" y="44348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26B1D"/>
                </a:solidFill>
              </a:rPr>
              <a:t>4</a:t>
            </a:r>
            <a:endParaRPr lang="en-US" sz="4000" dirty="0"/>
          </a:p>
        </p:txBody>
      </p:sp>
      <p:sp>
        <p:nvSpPr>
          <p:cNvPr id="17" name="Text 13"/>
          <p:cNvSpPr txBox="1"/>
          <p:nvPr/>
        </p:nvSpPr>
        <p:spPr>
          <a:xfrm>
            <a:off x="3840480" y="5212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DDDD"/>
                </a:solidFill>
              </a:rPr>
              <a:t>líneas: izaje, grúas, fajas y ascensores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40080" y="60533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</a:rPr>
              <a:t>* Según declaraciones públicas de la empresa.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zart-agency/src/fotos/tecnico-pole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ozart-agency/src/fotos/grad-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5836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26B1D"/>
                </a:solidFill>
              </a:rPr>
              <a:t>02 · EL RETO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583680" y="86868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NADIE COMPRA UN PUENTE GRÚA POR IMPULSO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6583680" y="251460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58368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7269480" y="247802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OPERACIONES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269480" y="28163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Quiere ver capacidad técnica y soporte en faena.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583680" y="361188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269480" y="35753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COMPRAS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269480" y="39136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Necesita fichas técnicas y una forma rápida de cotizar.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583680" y="470916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7269480" y="467258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SEGURIDAD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7269480" y="501091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Exige evidencia de protocolos y trayectoria.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zart-agency/src/fotos/faja-min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ozart-agency/src/fotos/d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26B1D"/>
                </a:solidFill>
              </a:rPr>
              <a:t>03 · LO QUE OFRECEMOS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868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TRES SERVICIOS, CONTRATABLES POR SEPARADO O JUNTOS</a:t>
            </a:r>
            <a:endParaRPr lang="en-US" sz="3200" dirty="0"/>
          </a:p>
        </p:txBody>
      </p:sp>
      <p:sp>
        <p:nvSpPr>
          <p:cNvPr id="6" name="Shape 2"/>
          <p:cNvSpPr/>
          <p:nvPr/>
        </p:nvSpPr>
        <p:spPr>
          <a:xfrm>
            <a:off x="640080" y="2377440"/>
            <a:ext cx="3429000" cy="3291840"/>
          </a:xfrm>
          <a:prstGeom prst="roundRect">
            <a:avLst>
              <a:gd name="adj" fmla="val 2778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14400" y="2651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26B1D"/>
                </a:solidFill>
              </a:rPr>
              <a:t>01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32461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WEB CORPORATIVA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39319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</a:rPr>
              <a:t>Rediseño completo de su web actual: más clara, ordenada por producto y pensada para recibir pedidos de cotización.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52120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6B1D"/>
                </a:solidFill>
              </a:rPr>
              <a:t>PROYECTO ÚNICO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389120" y="2377440"/>
            <a:ext cx="3429000" cy="3291840"/>
          </a:xfrm>
          <a:prstGeom prst="roundRect">
            <a:avLst>
              <a:gd name="adj" fmla="val 2778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663440" y="2651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26B1D"/>
                </a:solidFill>
              </a:rPr>
              <a:t>02</a:t>
            </a:r>
            <a:endParaRPr lang="en-US" sz="28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32461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CONTENIDO MENSUAL PARA REDES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39319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</a:rPr>
              <a:t>Plan, diseño y publicación de reels, carruseles y posts para LinkedIn, Instagram y TikTok, todos los meses.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663440" y="52120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6B1D"/>
                </a:solidFill>
              </a:rPr>
              <a:t>PAGO MENSUAL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138160" y="2377440"/>
            <a:ext cx="3429000" cy="3291840"/>
          </a:xfrm>
          <a:prstGeom prst="roundRect">
            <a:avLst>
              <a:gd name="adj" fmla="val 2778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412480" y="2651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26B1D"/>
                </a:solidFill>
              </a:rPr>
              <a:t>03</a:t>
            </a:r>
            <a:endParaRPr lang="en-US" sz="2800" dirty="0"/>
          </a:p>
        </p:txBody>
      </p:sp>
      <p:sp>
        <p:nvSpPr>
          <p:cNvPr id="18" name="Text 14"/>
          <p:cNvSpPr txBox="1"/>
          <p:nvPr/>
        </p:nvSpPr>
        <p:spPr>
          <a:xfrm>
            <a:off x="8412480" y="32461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PRODUCCIÓN AUDIOVISUAL EN CAMPO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8412480" y="393192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</a:rPr>
              <a:t>Grabación y fotografía en sus plantas y en faena: video institucional, casos de cliente y banco de fotos.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8412480" y="52120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6B1D"/>
                </a:solidFill>
              </a:rPr>
              <a:t>PAGO POR JORNADA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zart-agency/src/fotos/cable-ac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ozart-agency/src/fotos/grad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26B1D"/>
                </a:solidFill>
              </a:rPr>
              <a:t>04 · QUIÉNES SOMOS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86868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OFICIO DE RED INTERNACIONAL, ESTRUCTURA ÁGIL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640080" y="251460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247802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EXPERIENCIA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325880" y="28163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Equipo formado en TBWA y Publicis.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40080" y="352044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325880" y="348386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RECONOCIMIENTOS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382219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Trabajos premiados en Cannes Lions y New York Festivals.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52628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1325880" y="448970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TRATO DIRECTO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325880" y="482803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Quien presenta la propuesta, la ejecuta.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40080" y="5669280"/>
            <a:ext cx="5852160" cy="411480"/>
          </a:xfrm>
          <a:prstGeom prst="roundRect">
            <a:avLst>
              <a:gd name="adj" fmla="val 17778"/>
            </a:avLst>
          </a:prstGeom>
          <a:solidFill>
            <a:srgbClr val="2A1A10"/>
          </a:solidFill>
          <a:ln w="15875">
            <a:solidFill>
              <a:srgbClr val="F26B1D"/>
            </a:solidFill>
            <a:prstDash val="dash"/>
          </a:ln>
        </p:spPr>
      </p:sp>
      <p:sp>
        <p:nvSpPr>
          <p:cNvPr id="19" name="Text 15"/>
          <p:cNvSpPr txBox="1"/>
          <p:nvPr/>
        </p:nvSpPr>
        <p:spPr>
          <a:xfrm>
            <a:off x="82296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27A"/>
                </a:solidFill>
              </a:rPr>
              <a:t>LUIGGI · </a:t>
            </a:r>
            <a:pPr indent="0" marL="0">
              <a:buNone/>
            </a:pPr>
            <a:r>
              <a:rPr lang="en-US" sz="1100" dirty="0">
                <a:solidFill>
                  <a:srgbClr val="FFB27A"/>
                </a:solidFill>
              </a:rPr>
              <a:t>Confirmar premio, año y pieza exactos según las Credenciales 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26B1D"/>
                </a:solidFill>
              </a:rPr>
              <a:t>05 · EXPERIENCIA RELEVANTE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MARCAS QUE CONFIARON EN NOSOTROS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03520" cy="2743200"/>
          </a:xfrm>
          <a:prstGeom prst="rect">
            <a:avLst/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48840"/>
            <a:ext cx="274320" cy="914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48840"/>
            <a:ext cx="914" cy="274320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532120" y="2148840"/>
            <a:ext cx="274320" cy="914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06440" y="2148840"/>
            <a:ext cx="914" cy="274320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4617720"/>
            <a:ext cx="274320" cy="914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4343400"/>
            <a:ext cx="914" cy="274320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32120" y="4617720"/>
            <a:ext cx="274320" cy="914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06440" y="4343400"/>
            <a:ext cx="914" cy="274320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2004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Imagen del caso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9377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CLBS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303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Web corporativa y rebranding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2011680"/>
            <a:ext cx="5303520" cy="2743200"/>
          </a:xfrm>
          <a:prstGeom prst="rect">
            <a:avLst/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55080" y="2148840"/>
            <a:ext cx="274320" cy="914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55080" y="2148840"/>
            <a:ext cx="914" cy="274320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109960" y="2148840"/>
            <a:ext cx="274320" cy="914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384280" y="2148840"/>
            <a:ext cx="914" cy="274320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617720"/>
            <a:ext cx="274320" cy="914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55080" y="4343400"/>
            <a:ext cx="914" cy="274320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109960" y="4617720"/>
            <a:ext cx="274320" cy="914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384280" y="4343400"/>
            <a:ext cx="914" cy="274320"/>
          </a:xfrm>
          <a:prstGeom prst="line">
            <a:avLst/>
          </a:prstGeom>
          <a:noFill/>
          <a:ln w="28575">
            <a:solidFill>
              <a:srgbClr val="F26B1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17920" y="32004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Imagen del caso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49377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ELECTRODATA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217920" y="5303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Rebranding: experto, profesional, cercano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806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2C2C2"/>
                </a:solidFill>
              </a:rPr>
              <a:t>También: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BTG PACTUAL · SERRA · LYNCH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949440" y="5760720"/>
            <a:ext cx="4572000" cy="411480"/>
          </a:xfrm>
          <a:prstGeom prst="roundRect">
            <a:avLst>
              <a:gd name="adj" fmla="val 17778"/>
            </a:avLst>
          </a:prstGeom>
          <a:solidFill>
            <a:srgbClr val="2A1A10"/>
          </a:solidFill>
          <a:ln w="15875">
            <a:solidFill>
              <a:srgbClr val="F26B1D"/>
            </a:solidFill>
            <a:prstDash val="dash"/>
          </a:ln>
        </p:spPr>
      </p:sp>
      <p:sp>
        <p:nvSpPr>
          <p:cNvPr id="30" name="Text 28"/>
          <p:cNvSpPr txBox="1"/>
          <p:nvPr/>
        </p:nvSpPr>
        <p:spPr>
          <a:xfrm>
            <a:off x="7132320" y="57607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27A"/>
                </a:solidFill>
              </a:rPr>
              <a:t>LUIGGI · </a:t>
            </a:r>
            <a:pPr indent="0" marL="0">
              <a:buNone/>
            </a:pPr>
            <a:r>
              <a:rPr lang="en-US" sz="1100" dirty="0">
                <a:solidFill>
                  <a:srgbClr val="FFB27A"/>
                </a:solidFill>
              </a:rPr>
              <a:t>Insertar imágenes de CLBS y Electrodata.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zart-agency/src/fotos/puente-gru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ozart-agency/src/fotos/grad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26B1D"/>
                </a:solidFill>
              </a:rPr>
              <a:t>06 · CONCEPTO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1645920"/>
            <a:ext cx="6400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INGENIERÍA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QUE SE VE</a:t>
            </a:r>
            <a:endParaRPr lang="en-US" sz="6000" dirty="0"/>
          </a:p>
        </p:txBody>
      </p:sp>
      <p:sp>
        <p:nvSpPr>
          <p:cNvPr id="6" name="Shape 2"/>
          <p:cNvSpPr/>
          <p:nvPr/>
        </p:nvSpPr>
        <p:spPr>
          <a:xfrm>
            <a:off x="640080" y="4069080"/>
            <a:ext cx="5120640" cy="868680"/>
          </a:xfrm>
          <a:prstGeom prst="roundRect">
            <a:avLst>
              <a:gd name="adj" fmla="val 12632"/>
            </a:avLst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68680" y="406908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Su trabajo ocurre en faena, de noche y en paradas de planta. Proponemos mostrarlo.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521208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5212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Mostrar el proceso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514600" y="521208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514600" y="5212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Hablar en datos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389120" y="5212080"/>
            <a:ext cx="1737360" cy="502920"/>
          </a:xfrm>
          <a:prstGeom prst="roundRect">
            <a:avLst>
              <a:gd name="adj" fmla="val 18182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89120" y="5212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La seguridad como valor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zart-agency/src/fotos/puente-gru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ozart-agency/src/fotos/di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26B1D"/>
                </a:solidFill>
              </a:rPr>
              <a:t>SERVICIO 01 · WEB CORPORATIVA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868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SU WEB ACTUAL, REDISEÑADA PARA GENERAR COTIZACIONES</a:t>
            </a:r>
            <a:endParaRPr lang="en-US" sz="3200" dirty="0"/>
          </a:p>
        </p:txBody>
      </p:sp>
      <p:sp>
        <p:nvSpPr>
          <p:cNvPr id="6" name="Shape 2"/>
          <p:cNvSpPr/>
          <p:nvPr/>
        </p:nvSpPr>
        <p:spPr>
          <a:xfrm>
            <a:off x="640080" y="2377440"/>
            <a:ext cx="3429000" cy="3108960"/>
          </a:xfrm>
          <a:prstGeom prst="roundRect">
            <a:avLst>
              <a:gd name="adj" fmla="val 2941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914400" y="265176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91440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329184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MISMO CONTENIDO, MEJOR ORDENADO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397764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</a:rPr>
              <a:t>Partimos de su web de hoy: mismas secciones, productos y servicios, con una navegación más simple.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89120" y="2377440"/>
            <a:ext cx="3429000" cy="3108960"/>
          </a:xfrm>
          <a:prstGeom prst="roundRect">
            <a:avLst>
              <a:gd name="adj" fmla="val 2941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663440" y="265176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6634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663440" y="329184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UN BOTÓN DE COTIZACIÓN EN CADA PRODUCTO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663440" y="397764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</a:rPr>
              <a:t>Cada ficha tiene el botón "Solicitar cotización". El formulario ya llega con el nombre del equipo, así ventas sabe qué pide el cliente sin preguntar.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138160" y="2377440"/>
            <a:ext cx="3429000" cy="3108960"/>
          </a:xfrm>
          <a:prstGeom prst="roundRect">
            <a:avLst>
              <a:gd name="adj" fmla="val 2941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412480" y="265176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41248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8412480" y="329184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UNA VERSIÓN POR PAÍS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412480" y="397764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</a:rPr>
              <a:t>Perú, Chile y Colombia con sus propios contactos, sedes y productos disponibles.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zart-agency/entregables/muestra-home-movitecni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0424" y="228600"/>
            <a:ext cx="9070848" cy="5669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560424" y="5943600"/>
            <a:ext cx="9070848" cy="365760"/>
          </a:xfrm>
          <a:prstGeom prst="roundRect">
            <a:avLst>
              <a:gd name="adj" fmla="val 30000"/>
            </a:avLst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789024" y="5943600"/>
            <a:ext cx="8613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Muestra referencial de la nueva home: botón de cotización en cada producto y selector de país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26B1D"/>
                </a:solidFill>
              </a:rPr>
              <a:t>SERVICIO 01 · ALCANCE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PÁGINAS INCLUIDAS, SEGÚN SU WEB ACTUAL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29000" cy="3794760"/>
          </a:xfrm>
          <a:prstGeom prst="roundRect">
            <a:avLst>
              <a:gd name="adj" fmla="val 2667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116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6B1D"/>
                </a:solidFill>
              </a:rPr>
              <a:t>PÁGINAS PRINCIPALES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68880"/>
            <a:ext cx="2880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C2C2C2"/>
                </a:solidFill>
              </a:rPr>
              <a:t>Home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C2C2C2"/>
                </a:solidFill>
              </a:rPr>
              <a:t>Nosotros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C2C2C2"/>
                </a:solidFill>
              </a:rPr>
              <a:t>Contacto con sedes (Lima, Arequipa, Chiclayo, Chile, Colombia)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C2C2C2"/>
                </a:solidFill>
              </a:rPr>
              <a:t>Formulario de cotización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C2C2C2"/>
                </a:solidFill>
              </a:rPr>
              <a:t>Verifica tu equipo / certificado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737360"/>
            <a:ext cx="3429000" cy="3794760"/>
          </a:xfrm>
          <a:prstGeom prst="roundRect">
            <a:avLst>
              <a:gd name="adj" fmla="val 2667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0116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6B1D"/>
                </a:solidFill>
              </a:rPr>
              <a:t>PRODUCTOS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468880"/>
            <a:ext cx="2880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C2C2C2"/>
                </a:solidFill>
              </a:rPr>
              <a:t>Página general de productos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C2C2C2"/>
                </a:solidFill>
              </a:rPr>
              <a:t>Categorías: tecles y polipastos, grúas (puente grúa, pórtico, pescantes), fajas transportadoras, ascensores industriales, carretillas hidráulicas, eslingas y cables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C2C2C2"/>
                </a:solidFill>
              </a:rPr>
              <a:t>Ficha de producto con botón de cotización: carga de hasta ___ productos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38160" y="1737360"/>
            <a:ext cx="3429000" cy="3794760"/>
          </a:xfrm>
          <a:prstGeom prst="roundRect">
            <a:avLst>
              <a:gd name="adj" fmla="val 2667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0" y="20116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26B1D"/>
                </a:solidFill>
              </a:rPr>
              <a:t>SERVICIOS Y BLOG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2468880"/>
            <a:ext cx="2880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C2C2C2"/>
                </a:solidFill>
              </a:rPr>
              <a:t>Página general de servicios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C2C2C2"/>
                </a:solidFill>
              </a:rPr>
              <a:t>5 páginas: polipastos, fajas, ascensores, entrenamiento y alquiler de andamios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200" dirty="0">
                <a:solidFill>
                  <a:srgbClr val="C2C2C2"/>
                </a:solidFill>
              </a:rPr>
              <a:t>Blog: listado y artículo, con migración de las notas actuales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715000"/>
            <a:ext cx="10881360" cy="411480"/>
          </a:xfrm>
          <a:prstGeom prst="roundRect">
            <a:avLst>
              <a:gd name="adj" fmla="val 17778"/>
            </a:avLst>
          </a:prstGeom>
          <a:solidFill>
            <a:srgbClr val="2A1A10"/>
          </a:solidFill>
          <a:ln w="15875">
            <a:solidFill>
              <a:srgbClr val="F26B1D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27A"/>
                </a:solidFill>
              </a:rPr>
              <a:t>LUIGGI · </a:t>
            </a:r>
            <a:pPr indent="0" marL="0">
              <a:buNone/>
            </a:pPr>
            <a:r>
              <a:rPr lang="en-US" sz="1100" dirty="0">
                <a:solidFill>
                  <a:srgbClr val="FFB27A"/>
                </a:solidFill>
              </a:rPr>
              <a:t>Contar los productos de su web actual para fijar el número de fichas incluidas. Validar categorías con el cliente.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26B1D"/>
                </a:solidFill>
              </a:rPr>
              <a:t>SERVICIO 01 · QUÉ INCLUYE EL TRABAJO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DE LA AUDITORÍA AL LANZAMIENTO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429000" cy="1463040"/>
          </a:xfrm>
          <a:prstGeom prst="roundRect">
            <a:avLst>
              <a:gd name="adj" fmla="val 6250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240280"/>
            <a:ext cx="411480" cy="41148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267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AUDITORÍA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889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2C2C2"/>
                </a:solidFill>
              </a:rPr>
              <a:t>Revisión de su web actual: qué funciona y qué no.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89120" y="2011680"/>
            <a:ext cx="3429000" cy="1463040"/>
          </a:xfrm>
          <a:prstGeom prst="roundRect">
            <a:avLst>
              <a:gd name="adj" fmla="val 6250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2240280"/>
            <a:ext cx="411480" cy="41148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2267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ARQUITECTURA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7889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2C2C2"/>
                </a:solidFill>
              </a:rPr>
              <a:t>Menú y orden de páginas, pensado para quien cotiza.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38160" y="2011680"/>
            <a:ext cx="3429000" cy="1463040"/>
          </a:xfrm>
          <a:prstGeom prst="roundRect">
            <a:avLst>
              <a:gd name="adj" fmla="val 6250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66760" y="2240280"/>
            <a:ext cx="411480" cy="41148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66760" y="2240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915400" y="226771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WIREFRAMES UX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27889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2C2C2"/>
                </a:solidFill>
              </a:rPr>
              <a:t>Esquema de cada plantilla antes de diseñar.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3703320"/>
            <a:ext cx="3429000" cy="1463040"/>
          </a:xfrm>
          <a:prstGeom prst="roundRect">
            <a:avLst>
              <a:gd name="adj" fmla="val 6250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3931920"/>
            <a:ext cx="411480" cy="41148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39593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DISEÑO UI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4480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2C2C2"/>
                </a:solidFill>
              </a:rPr>
              <a:t>Diseño visual en computadora y celular.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89120" y="3703320"/>
            <a:ext cx="3429000" cy="1463040"/>
          </a:xfrm>
          <a:prstGeom prst="roundRect">
            <a:avLst>
              <a:gd name="adj" fmla="val 6250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7720" y="3931920"/>
            <a:ext cx="411480" cy="41148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61772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166360" y="39593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DESARROLLO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617720" y="4480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2C2C2"/>
                </a:solidFill>
              </a:rPr>
              <a:t>Web autoadministrable, SEO técnico y migración de contenidos.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38160" y="3703320"/>
            <a:ext cx="3429000" cy="1463040"/>
          </a:xfrm>
          <a:prstGeom prst="roundRect">
            <a:avLst>
              <a:gd name="adj" fmla="val 6250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66760" y="3931920"/>
            <a:ext cx="411480" cy="41148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66760" y="3931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39593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LANZAMIENTO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366760" y="44805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2C2C2"/>
                </a:solidFill>
              </a:rPr>
              <a:t>Publicación, pruebas y capacitación a su equipo.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" y="5577840"/>
            <a:ext cx="8229600" cy="411480"/>
          </a:xfrm>
          <a:prstGeom prst="roundRect">
            <a:avLst>
              <a:gd name="adj" fmla="val 17778"/>
            </a:avLst>
          </a:prstGeom>
          <a:solidFill>
            <a:srgbClr val="2A1A10"/>
          </a:solidFill>
          <a:ln w="15875">
            <a:solidFill>
              <a:srgbClr val="F26B1D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822960" y="55778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27A"/>
                </a:solidFill>
              </a:rPr>
              <a:t>LUIGGI · </a:t>
            </a:r>
            <a:pPr indent="0" marL="0">
              <a:buNone/>
            </a:pPr>
            <a:r>
              <a:rPr lang="en-US" sz="1100" dirty="0">
                <a:solidFill>
                  <a:srgbClr val="FFB27A"/>
                </a:solidFill>
              </a:rPr>
              <a:t>Definir rondas de cambios incluidas y si hosting y dominio los mantiene Movitécnica.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zart-agency/src/fotos/tecnico-pole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ozart-agency/src/fotos/grad-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30936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26B1D"/>
                </a:solidFill>
              </a:rPr>
              <a:t>SERVICIO 02 · CONTENIDO MENSUAL PARA REDES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309360" y="8686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QUÉ RECIBE MOVITÉCNICA CADA MES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6309360" y="2011680"/>
            <a:ext cx="5212080" cy="685800"/>
          </a:xfrm>
          <a:prstGeom prst="roundRect">
            <a:avLst>
              <a:gd name="adj" fmla="val 13333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537960" y="20116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6B1D"/>
                </a:solidFill>
              </a:rPr>
              <a:t>4</a:t>
            </a:r>
            <a:endParaRPr lang="en-US" sz="3000" dirty="0"/>
          </a:p>
        </p:txBody>
      </p:sp>
      <p:sp>
        <p:nvSpPr>
          <p:cNvPr id="8" name="Text 4"/>
          <p:cNvSpPr txBox="1"/>
          <p:nvPr/>
        </p:nvSpPr>
        <p:spPr>
          <a:xfrm>
            <a:off x="7269480" y="201168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REELS VERTICALES CON SUBTÍTULOS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309360" y="2834640"/>
            <a:ext cx="5212080" cy="685800"/>
          </a:xfrm>
          <a:prstGeom prst="roundRect">
            <a:avLst>
              <a:gd name="adj" fmla="val 13333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37960" y="283464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6B1D"/>
                </a:solidFill>
              </a:rPr>
              <a:t>4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7269480" y="283464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CARRUSELES TÉCNICOS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309360" y="3657600"/>
            <a:ext cx="5212080" cy="685800"/>
          </a:xfrm>
          <a:prstGeom prst="roundRect">
            <a:avLst>
              <a:gd name="adj" fmla="val 13333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37960" y="365760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6B1D"/>
                </a:solidFill>
              </a:rPr>
              <a:t>4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7269480" y="365760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PUBLICACIONES DE IMAGEN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09360" y="4526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DDDDDD"/>
                </a:solidFill>
              </a:rPr>
              <a:t>Plan de contenidos y textos para aprobar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DDDDDD"/>
                </a:solidFill>
              </a:rPr>
              <a:t>Publicación en LinkedIn, Instagram y TikTok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DDDDDD"/>
                </a:solidFill>
              </a:rPr>
              <a:t>Reporte mensual de resultados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309360" y="5532120"/>
            <a:ext cx="5212080" cy="548640"/>
          </a:xfrm>
          <a:prstGeom prst="roundRect">
            <a:avLst>
              <a:gd name="adj" fmla="val 13333"/>
            </a:avLst>
          </a:prstGeom>
          <a:solidFill>
            <a:srgbClr val="2A1A10"/>
          </a:solidFill>
          <a:ln w="15875">
            <a:solidFill>
              <a:srgbClr val="F26B1D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6492240" y="55321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27A"/>
                </a:solidFill>
              </a:rPr>
              <a:t>LUIGGI · </a:t>
            </a:r>
            <a:pPr indent="0" marL="0">
              <a:buNone/>
            </a:pPr>
            <a:r>
              <a:rPr lang="en-US" sz="1100" dirty="0">
                <a:solidFill>
                  <a:srgbClr val="FFB27A"/>
                </a:solidFill>
              </a:rPr>
              <a:t>Ajustar cantidades. El material de video sale de las jornadas en campo o de material del cliente.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zart-agency/entregables/muestra-storyboard-re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zart-agency/src/fotos/camarograf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ozart-agency/src/fotos/grad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26B1D"/>
                </a:solidFill>
              </a:rPr>
              <a:t>SERVICIO 03 · PRODUCCIÓN AUDIOVISUAL EN CAMPO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86868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QUÉ INCLUYE UNA JORNADA DE RODAJE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640080" y="2103120"/>
            <a:ext cx="5486400" cy="868680"/>
          </a:xfrm>
          <a:prstGeom prst="roundRect">
            <a:avLst>
              <a:gd name="adj" fmla="val 10526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68680" y="22128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6B1D"/>
                </a:solidFill>
              </a:rPr>
              <a:t>EQUIPO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25328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</a:rPr>
              <a:t>Director, camarógrafo y fotógrafo en su planta o faena.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40080" y="3154680"/>
            <a:ext cx="5486400" cy="868680"/>
          </a:xfrm>
          <a:prstGeom prst="roundRect">
            <a:avLst>
              <a:gd name="adj" fmla="val 10526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2644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6B1D"/>
                </a:solidFill>
              </a:rPr>
              <a:t>DURACIÓN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35844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</a:rPr>
              <a:t>Hasta 8 horas de rodaje en una sede.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4206240"/>
            <a:ext cx="5486400" cy="868680"/>
          </a:xfrm>
          <a:prstGeom prst="roundRect">
            <a:avLst>
              <a:gd name="adj" fmla="val 10526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43159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6B1D"/>
                </a:solidFill>
              </a:rPr>
              <a:t>ENTREGABLES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868680" y="463600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DDDD"/>
                </a:solidFill>
              </a:rPr>
              <a:t>1 video editado de hasta 90 s, 3 cortes verticales para redes y 20 fotos editadas.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40080" y="5303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DDDD"/>
                </a:solidFill>
              </a:rPr>
              <a:t>Opcionales: video institucional de 2 a 3 minutos, casos de cliente y tomas con dron.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40080" y="5760720"/>
            <a:ext cx="5486400" cy="365760"/>
          </a:xfrm>
          <a:prstGeom prst="roundRect">
            <a:avLst>
              <a:gd name="adj" fmla="val 20000"/>
            </a:avLst>
          </a:prstGeom>
          <a:solidFill>
            <a:srgbClr val="2A1A10"/>
          </a:solidFill>
          <a:ln w="15875">
            <a:solidFill>
              <a:srgbClr val="F26B1D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822960" y="5760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27A"/>
                </a:solidFill>
              </a:rPr>
              <a:t>LUIGGI · </a:t>
            </a:r>
            <a:pPr indent="0" marL="0">
              <a:buNone/>
            </a:pPr>
            <a:r>
              <a:rPr lang="en-US" sz="1100" dirty="0">
                <a:solidFill>
                  <a:srgbClr val="FFB27A"/>
                </a:solidFill>
              </a:rPr>
              <a:t>Ajustar equipo, horas y entregables por jornada.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zart-agency/src/fotos/charla-segurida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ozart-agency/src/fotos/grad-le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26B1D"/>
                </a:solidFill>
              </a:rPr>
              <a:t>PROTOCOLO DE SEGURIDAD EN CAMPO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8686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PRIMERO LA SEGURIDAD, DESPUÉS LA CÁMARA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640080" y="246888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243230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ANTES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325880" y="277063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Inducción y plan de rodaje aprobado por la unidad.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325880" y="339242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DURANTE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37307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EPP completo y acompañamiento de Movitécnica.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38912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1325880" y="435254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DESPUÉS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325880" y="4690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Revisión del material antes de publicar.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40080" y="5349240"/>
            <a:ext cx="5577840" cy="384048"/>
          </a:xfrm>
          <a:prstGeom prst="roundRect">
            <a:avLst>
              <a:gd name="adj" fmla="val 19048"/>
            </a:avLst>
          </a:prstGeom>
          <a:solidFill>
            <a:srgbClr val="2A1A10"/>
          </a:solidFill>
          <a:ln w="15875">
            <a:solidFill>
              <a:srgbClr val="F26B1D"/>
            </a:solidFill>
            <a:prstDash val="dash"/>
          </a:ln>
        </p:spPr>
      </p:sp>
      <p:sp>
        <p:nvSpPr>
          <p:cNvPr id="19" name="Text 15"/>
          <p:cNvSpPr txBox="1"/>
          <p:nvPr/>
        </p:nvSpPr>
        <p:spPr>
          <a:xfrm>
            <a:off x="822960" y="534924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27A"/>
                </a:solidFill>
              </a:rPr>
              <a:t>LUIGGI · </a:t>
            </a:r>
            <a:pPr indent="0" marL="0">
              <a:buNone/>
            </a:pPr>
            <a:r>
              <a:rPr lang="en-US" sz="1100" dirty="0">
                <a:solidFill>
                  <a:srgbClr val="FFB27A"/>
                </a:solidFill>
              </a:rPr>
              <a:t>Contratar SCTR para cada persona del equipo antes de entrar a faena.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40080" y="5824728"/>
            <a:ext cx="5577840" cy="384048"/>
          </a:xfrm>
          <a:prstGeom prst="roundRect">
            <a:avLst>
              <a:gd name="adj" fmla="val 19048"/>
            </a:avLst>
          </a:prstGeom>
          <a:solidFill>
            <a:srgbClr val="2A1A10"/>
          </a:solidFill>
          <a:ln w="15875">
            <a:solidFill>
              <a:srgbClr val="F26B1D"/>
            </a:solidFill>
            <a:prstDash val="dash"/>
          </a:ln>
        </p:spPr>
      </p:sp>
      <p:sp>
        <p:nvSpPr>
          <p:cNvPr id="21" name="Text 17"/>
          <p:cNvSpPr txBox="1"/>
          <p:nvPr/>
        </p:nvSpPr>
        <p:spPr>
          <a:xfrm>
            <a:off x="822960" y="5824728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27A"/>
                </a:solidFill>
              </a:rPr>
              <a:t>LUIGGI · </a:t>
            </a:r>
            <a:pPr indent="0" marL="0">
              <a:buNone/>
            </a:pPr>
            <a:r>
              <a:rPr lang="en-US" sz="1100" dirty="0">
                <a:solidFill>
                  <a:srgbClr val="FFB27A"/>
                </a:solidFill>
              </a:rPr>
              <a:t>Conseguir piloto de dron con registro vigente y seguro.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26B1D"/>
                </a:solidFill>
              </a:rPr>
              <a:t>CÓMO TRABAJAMOS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UN PROCESO CLARO EN CUATRO FASES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2880360"/>
            <a:ext cx="10332720" cy="0"/>
          </a:xfrm>
          <a:prstGeom prst="line">
            <a:avLst/>
          </a:prstGeom>
          <a:noFill/>
          <a:ln w="19050">
            <a:solidFill>
              <a:srgbClr val="3A3A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265176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INMERSIÓN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Marca, catálogo y prioridades por país.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29000" y="265176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ESTRATEGIA Y DISEÑO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Arquitectura web, línea visual y plan de contenidos.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265176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7220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PRODUCCIÓN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Desarrollo web y jornadas de rodaje.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15400" y="265176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1540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86968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LANZAMIENTO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86968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Publicación, medición y ajustes mensuales.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303520"/>
            <a:ext cx="4572000" cy="411480"/>
          </a:xfrm>
          <a:prstGeom prst="roundRect">
            <a:avLst>
              <a:gd name="adj" fmla="val 17778"/>
            </a:avLst>
          </a:prstGeom>
          <a:solidFill>
            <a:srgbClr val="2A1A10"/>
          </a:solidFill>
          <a:ln w="15875">
            <a:solidFill>
              <a:srgbClr val="F26B1D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822960" y="530352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27A"/>
                </a:solidFill>
              </a:rPr>
              <a:t>LUIGGI · </a:t>
            </a:r>
            <a:pPr indent="0" marL="0">
              <a:buNone/>
            </a:pPr>
            <a:r>
              <a:rPr lang="en-US" sz="1100" dirty="0">
                <a:solidFill>
                  <a:srgbClr val="FFB27A"/>
                </a:solidFill>
              </a:rPr>
              <a:t>Definir plazos por fase (en semanas).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26B1D"/>
                </a:solidFill>
              </a:rPr>
              <a:t>INVERSIÓN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INVERSIÓN POR SERVICIO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29000" cy="4160520"/>
          </a:xfrm>
          <a:prstGeom prst="roundRect">
            <a:avLst>
              <a:gd name="adj" fmla="val 2667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6B1D"/>
                </a:solidFill>
              </a:rPr>
              <a:t>SERVICIO 01 · PROYECTO ÚNICO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WEB CORPORATIVA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S/ ____________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61188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C2C2C2"/>
                </a:solidFill>
              </a:rPr>
              <a:t>Rediseño de su web actual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C2C2C2"/>
                </a:solidFill>
              </a:rPr>
              <a:t>Plantillas y páginas del alcance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C2C2C2"/>
                </a:solidFill>
              </a:rPr>
              <a:t>Fichas con botón de cotización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C2C2C2"/>
                </a:solidFill>
              </a:rPr>
              <a:t>Versiones Perú, Chile y Colombia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C2C2C2"/>
                </a:solidFill>
              </a:rPr>
              <a:t>SEO técnico y capacitación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3429000" cy="4160520"/>
          </a:xfrm>
          <a:prstGeom prst="roundRect">
            <a:avLst>
              <a:gd name="adj" fmla="val 2667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9659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6B1D"/>
                </a:solidFill>
              </a:rPr>
              <a:t>SERVICIO 02 · PAGO MENSUAL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2860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CONTENIDO MENSUAL PARA REDES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29260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S/ ________ /mes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61188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C2C2C2"/>
                </a:solidFill>
              </a:rPr>
              <a:t>4 reels verticales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C2C2C2"/>
                </a:solidFill>
              </a:rPr>
              <a:t>4 carruseles técnicos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C2C2C2"/>
                </a:solidFill>
              </a:rPr>
              <a:t>4 publicaciones de imagen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C2C2C2"/>
                </a:solidFill>
              </a:rPr>
              <a:t>Plan, textos y publicación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C2C2C2"/>
                </a:solidFill>
              </a:rPr>
              <a:t>Reporte mensual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691640"/>
            <a:ext cx="3429000" cy="4160520"/>
          </a:xfrm>
          <a:prstGeom prst="roundRect">
            <a:avLst>
              <a:gd name="adj" fmla="val 2667"/>
            </a:avLst>
          </a:prstGeom>
          <a:solidFill>
            <a:srgbClr val="1F1F1F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412480" y="19659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26B1D"/>
                </a:solidFill>
              </a:rPr>
              <a:t>SERVICIO 03 · POR JORNADA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2860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AUDIOVISUAL EN CAMPO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92608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S/ ______ /jornada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611880"/>
            <a:ext cx="2880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C2C2C2"/>
                </a:solidFill>
              </a:rPr>
              <a:t>Hasta 8 horas de rodaje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C2C2C2"/>
                </a:solidFill>
              </a:rPr>
              <a:t>Director, camarógrafo y fotógrafo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C2C2C2"/>
                </a:solidFill>
              </a:rPr>
              <a:t>1 video de hasta 90 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C2C2C2"/>
                </a:solidFill>
              </a:rPr>
              <a:t>3 cortes verticales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C2C2C2"/>
                </a:solidFill>
              </a:rPr>
              <a:t>20 fotos editadas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A9A9A"/>
                </a:solidFill>
              </a:rPr>
              <a:t>Montos en soles. IGV y viáticos a faena: ____________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zart-agency/src/fotos/faja-min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mozart-agency/src/fotos/grad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4008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26B1D"/>
                </a:solidFill>
              </a:rPr>
              <a:t>PRÓXIMOS PASOS</a:t>
            </a:r>
            <a:endParaRPr lang="en-US" sz="11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15087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CONVERSEMOS</a:t>
            </a:r>
            <a:endParaRPr lang="en-US" sz="6000" dirty="0"/>
          </a:p>
        </p:txBody>
      </p:sp>
      <p:sp>
        <p:nvSpPr>
          <p:cNvPr id="6" name="Shape 2"/>
          <p:cNvSpPr/>
          <p:nvPr/>
        </p:nvSpPr>
        <p:spPr>
          <a:xfrm>
            <a:off x="640080" y="301752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298094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REUNIÓN DE 30 MINUTOS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325880" y="33192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Prioridades y alcance por país.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40080" y="388620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325880" y="384962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PROPUESTA AJUSTADA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1325880" y="418795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Alcance y montos finales.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754880"/>
            <a:ext cx="457200" cy="457200"/>
          </a:xfrm>
          <a:prstGeom prst="ellipse">
            <a:avLst/>
          </a:prstGeom>
          <a:solidFill>
            <a:srgbClr val="F26B1D"/>
          </a:solidFill>
          <a:ln w="12700">
            <a:solidFill>
              <a:srgbClr val="F26B1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4754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1325880" y="471830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ARRANQUE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325880" y="505663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2C2C2"/>
                </a:solidFill>
              </a:rPr>
              <a:t>Inmersión y primera jornada en campo.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40080" y="5715000"/>
            <a:ext cx="5486400" cy="411480"/>
          </a:xfrm>
          <a:prstGeom prst="roundRect">
            <a:avLst>
              <a:gd name="adj" fmla="val 17778"/>
            </a:avLst>
          </a:prstGeom>
          <a:solidFill>
            <a:srgbClr val="2A1A10"/>
          </a:solidFill>
          <a:ln w="15875">
            <a:solidFill>
              <a:srgbClr val="F26B1D"/>
            </a:solidFill>
            <a:prstDash val="dash"/>
          </a:ln>
        </p:spPr>
      </p:sp>
      <p:sp>
        <p:nvSpPr>
          <p:cNvPr id="19" name="Text 15"/>
          <p:cNvSpPr txBox="1"/>
          <p:nvPr/>
        </p:nvSpPr>
        <p:spPr>
          <a:xfrm>
            <a:off x="822960" y="57150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27A"/>
                </a:solidFill>
              </a:rPr>
              <a:t>LUIGGI · </a:t>
            </a:r>
            <a:pPr indent="0" marL="0">
              <a:buNone/>
            </a:pPr>
            <a:r>
              <a:rPr lang="en-US" sz="1100" dirty="0">
                <a:solidFill>
                  <a:srgbClr val="FFB27A"/>
                </a:solidFill>
              </a:rPr>
              <a:t>Agregar nombre, cargo, correo, teléfono y web de Mozart.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zart Industrial">
  <a:themeElements>
    <a:clrScheme name="Mozart Industrial">
      <a:dk1>
        <a:srgbClr val="141414"/>
      </a:dk1>
      <a:lt1>
        <a:srgbClr val="FFFFFF"/>
      </a:lt1>
      <a:dk2>
        <a:srgbClr val="1F1F1F"/>
      </a:dk2>
      <a:lt2>
        <a:srgbClr val="F2F2F2"/>
      </a:lt2>
      <a:accent1>
        <a:srgbClr val="F26B1D"/>
      </a:accent1>
      <a:accent2>
        <a:srgbClr val="C2C2C2"/>
      </a:accent2>
      <a:accent3>
        <a:srgbClr val="3A3A3A"/>
      </a:accent3>
      <a:accent4>
        <a:srgbClr val="FFB27A"/>
      </a:accent4>
      <a:accent5>
        <a:srgbClr val="8A8A8A"/>
      </a:accent5>
      <a:accent6>
        <a:srgbClr val="5C5C5C"/>
      </a:accent6>
      <a:hlink>
        <a:srgbClr val="F26B1D"/>
      </a:hlink>
      <a:folHlink>
        <a:srgbClr val="C2C2C2"/>
      </a:folHlink>
    </a:clrScheme>
    <a:fontScheme name="Mozart Industri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Mozart para Movitécnica</dc:title>
  <dc:subject>PptxGenJS Presentation</dc:subject>
  <dc:creator>Mozart</dc:creator>
  <cp:lastModifiedBy>Mozart</cp:lastModifiedBy>
  <cp:revision>1</cp:revision>
  <dcterms:created xsi:type="dcterms:W3CDTF">2026-10-28T05:16:45Z</dcterms:created>
  <dcterms:modified xsi:type="dcterms:W3CDTF">2026-10-28T05:16:45Z</dcterms:modified>
</cp:coreProperties>
</file>